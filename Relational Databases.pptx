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 autoAdjust="0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outlineViewPr>
    <p:cViewPr>
      <p:scale>
        <a:sx n="33" d="100"/>
        <a:sy n="33" d="100"/>
      </p:scale>
      <p:origin x="0" y="-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8523" y="5953318"/>
            <a:ext cx="10318418" cy="74227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379454E9-64A4-5BCD-DBB2-0A8C47461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77EF47-0E28-324A-BFDB-6DA237E7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7" y="382385"/>
            <a:ext cx="10523379" cy="74073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7" y="1262271"/>
            <a:ext cx="10523379" cy="461732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6875113-6CF9-DCB5-3194-7B5DC7DB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A9FEF-52A0-808F-183C-E69D0BD7D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8" y="655604"/>
            <a:ext cx="4028348" cy="5387886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026" y="655604"/>
            <a:ext cx="5986078" cy="5387886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2629D6-C81C-6C07-314D-B2D901A71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530964" y="0"/>
              <a:ext cx="666103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CD54FFD-5890-0058-F8A8-53847637E554}"/>
                </a:ext>
              </a:extLst>
            </p:cNvPr>
            <p:cNvGrpSpPr/>
            <p:nvPr userDrawn="1"/>
          </p:nvGrpSpPr>
          <p:grpSpPr>
            <a:xfrm>
              <a:off x="196964" y="0"/>
              <a:ext cx="7377024" cy="6858000"/>
              <a:chOff x="196964" y="0"/>
              <a:chExt cx="7377024" cy="6858000"/>
            </a:xfrm>
          </p:grpSpPr>
          <p:sp>
            <p:nvSpPr>
              <p:cNvPr id="10" name="Freeform 6" title="Left scallop edge">
                <a:extLst>
                  <a:ext uri="{FF2B5EF4-FFF2-40B4-BE49-F238E27FC236}">
                    <a16:creationId xmlns:a16="http://schemas.microsoft.com/office/drawing/2014/main" id="{79990210-1F9B-2CE1-E438-60E6728E96E4}"/>
                  </a:ext>
                </a:extLst>
              </p:cNvPr>
              <p:cNvSpPr/>
              <p:nvPr userDrawn="1"/>
            </p:nvSpPr>
            <p:spPr bwMode="auto">
              <a:xfrm>
                <a:off x="6688163" y="0"/>
                <a:ext cx="885825" cy="6858000"/>
              </a:xfrm>
              <a:custGeom>
                <a:avLst/>
                <a:gdLst/>
                <a:ahLst/>
                <a:cxnLst/>
                <a:rect l="0" t="0" r="r" b="b"/>
                <a:pathLst>
                  <a:path w="558" h="4320">
                    <a:moveTo>
                      <a:pt x="0" y="0"/>
                    </a:moveTo>
                    <a:lnTo>
                      <a:pt x="447" y="0"/>
                    </a:lnTo>
                    <a:lnTo>
                      <a:pt x="448" y="43"/>
                    </a:lnTo>
                    <a:lnTo>
                      <a:pt x="453" y="81"/>
                    </a:lnTo>
                    <a:lnTo>
                      <a:pt x="460" y="114"/>
                    </a:lnTo>
                    <a:lnTo>
                      <a:pt x="469" y="143"/>
                    </a:lnTo>
                    <a:lnTo>
                      <a:pt x="479" y="169"/>
                    </a:lnTo>
                    <a:lnTo>
                      <a:pt x="491" y="192"/>
                    </a:lnTo>
                    <a:lnTo>
                      <a:pt x="503" y="216"/>
                    </a:lnTo>
                    <a:lnTo>
                      <a:pt x="515" y="240"/>
                    </a:lnTo>
                    <a:lnTo>
                      <a:pt x="525" y="263"/>
                    </a:lnTo>
                    <a:lnTo>
                      <a:pt x="535" y="289"/>
                    </a:lnTo>
                    <a:lnTo>
                      <a:pt x="545" y="318"/>
                    </a:lnTo>
                    <a:lnTo>
                      <a:pt x="552" y="351"/>
                    </a:lnTo>
                    <a:lnTo>
                      <a:pt x="556" y="389"/>
                    </a:lnTo>
                    <a:lnTo>
                      <a:pt x="558" y="432"/>
                    </a:lnTo>
                    <a:lnTo>
                      <a:pt x="556" y="475"/>
                    </a:lnTo>
                    <a:lnTo>
                      <a:pt x="552" y="513"/>
                    </a:lnTo>
                    <a:lnTo>
                      <a:pt x="545" y="546"/>
                    </a:lnTo>
                    <a:lnTo>
                      <a:pt x="535" y="575"/>
                    </a:lnTo>
                    <a:lnTo>
                      <a:pt x="525" y="601"/>
                    </a:lnTo>
                    <a:lnTo>
                      <a:pt x="515" y="624"/>
                    </a:lnTo>
                    <a:lnTo>
                      <a:pt x="503" y="648"/>
                    </a:lnTo>
                    <a:lnTo>
                      <a:pt x="491" y="672"/>
                    </a:lnTo>
                    <a:lnTo>
                      <a:pt x="479" y="695"/>
                    </a:lnTo>
                    <a:lnTo>
                      <a:pt x="469" y="721"/>
                    </a:lnTo>
                    <a:lnTo>
                      <a:pt x="460" y="750"/>
                    </a:lnTo>
                    <a:lnTo>
                      <a:pt x="453" y="783"/>
                    </a:lnTo>
                    <a:lnTo>
                      <a:pt x="448" y="821"/>
                    </a:lnTo>
                    <a:lnTo>
                      <a:pt x="447" y="864"/>
                    </a:lnTo>
                    <a:lnTo>
                      <a:pt x="448" y="907"/>
                    </a:lnTo>
                    <a:lnTo>
                      <a:pt x="453" y="945"/>
                    </a:lnTo>
                    <a:lnTo>
                      <a:pt x="460" y="978"/>
                    </a:lnTo>
                    <a:lnTo>
                      <a:pt x="469" y="1007"/>
                    </a:lnTo>
                    <a:lnTo>
                      <a:pt x="479" y="1033"/>
                    </a:lnTo>
                    <a:lnTo>
                      <a:pt x="491" y="1056"/>
                    </a:lnTo>
                    <a:lnTo>
                      <a:pt x="503" y="1080"/>
                    </a:lnTo>
                    <a:lnTo>
                      <a:pt x="515" y="1104"/>
                    </a:lnTo>
                    <a:lnTo>
                      <a:pt x="525" y="1127"/>
                    </a:lnTo>
                    <a:lnTo>
                      <a:pt x="535" y="1153"/>
                    </a:lnTo>
                    <a:lnTo>
                      <a:pt x="545" y="1182"/>
                    </a:lnTo>
                    <a:lnTo>
                      <a:pt x="552" y="1215"/>
                    </a:lnTo>
                    <a:lnTo>
                      <a:pt x="556" y="1253"/>
                    </a:lnTo>
                    <a:lnTo>
                      <a:pt x="558" y="1296"/>
                    </a:lnTo>
                    <a:lnTo>
                      <a:pt x="556" y="1339"/>
                    </a:lnTo>
                    <a:lnTo>
                      <a:pt x="552" y="1377"/>
                    </a:lnTo>
                    <a:lnTo>
                      <a:pt x="545" y="1410"/>
                    </a:lnTo>
                    <a:lnTo>
                      <a:pt x="535" y="1439"/>
                    </a:lnTo>
                    <a:lnTo>
                      <a:pt x="525" y="1465"/>
                    </a:lnTo>
                    <a:lnTo>
                      <a:pt x="515" y="1488"/>
                    </a:lnTo>
                    <a:lnTo>
                      <a:pt x="503" y="1512"/>
                    </a:lnTo>
                    <a:lnTo>
                      <a:pt x="491" y="1536"/>
                    </a:lnTo>
                    <a:lnTo>
                      <a:pt x="479" y="1559"/>
                    </a:lnTo>
                    <a:lnTo>
                      <a:pt x="469" y="1585"/>
                    </a:lnTo>
                    <a:lnTo>
                      <a:pt x="460" y="1614"/>
                    </a:lnTo>
                    <a:lnTo>
                      <a:pt x="453" y="1647"/>
                    </a:lnTo>
                    <a:lnTo>
                      <a:pt x="448" y="1685"/>
                    </a:lnTo>
                    <a:lnTo>
                      <a:pt x="447" y="1728"/>
                    </a:lnTo>
                    <a:lnTo>
                      <a:pt x="448" y="1771"/>
                    </a:lnTo>
                    <a:lnTo>
                      <a:pt x="453" y="1809"/>
                    </a:lnTo>
                    <a:lnTo>
                      <a:pt x="460" y="1842"/>
                    </a:lnTo>
                    <a:lnTo>
                      <a:pt x="469" y="1871"/>
                    </a:lnTo>
                    <a:lnTo>
                      <a:pt x="479" y="1897"/>
                    </a:lnTo>
                    <a:lnTo>
                      <a:pt x="491" y="1920"/>
                    </a:lnTo>
                    <a:lnTo>
                      <a:pt x="503" y="1944"/>
                    </a:lnTo>
                    <a:lnTo>
                      <a:pt x="515" y="1968"/>
                    </a:lnTo>
                    <a:lnTo>
                      <a:pt x="525" y="1991"/>
                    </a:lnTo>
                    <a:lnTo>
                      <a:pt x="535" y="2017"/>
                    </a:lnTo>
                    <a:lnTo>
                      <a:pt x="545" y="2046"/>
                    </a:lnTo>
                    <a:lnTo>
                      <a:pt x="552" y="2079"/>
                    </a:lnTo>
                    <a:lnTo>
                      <a:pt x="556" y="2117"/>
                    </a:lnTo>
                    <a:lnTo>
                      <a:pt x="558" y="2159"/>
                    </a:lnTo>
                    <a:lnTo>
                      <a:pt x="556" y="2203"/>
                    </a:lnTo>
                    <a:lnTo>
                      <a:pt x="552" y="2241"/>
                    </a:lnTo>
                    <a:lnTo>
                      <a:pt x="545" y="2274"/>
                    </a:lnTo>
                    <a:lnTo>
                      <a:pt x="535" y="2303"/>
                    </a:lnTo>
                    <a:lnTo>
                      <a:pt x="525" y="2329"/>
                    </a:lnTo>
                    <a:lnTo>
                      <a:pt x="515" y="2352"/>
                    </a:lnTo>
                    <a:lnTo>
                      <a:pt x="503" y="2376"/>
                    </a:lnTo>
                    <a:lnTo>
                      <a:pt x="491" y="2400"/>
                    </a:lnTo>
                    <a:lnTo>
                      <a:pt x="479" y="2423"/>
                    </a:lnTo>
                    <a:lnTo>
                      <a:pt x="469" y="2449"/>
                    </a:lnTo>
                    <a:lnTo>
                      <a:pt x="460" y="2478"/>
                    </a:lnTo>
                    <a:lnTo>
                      <a:pt x="453" y="2511"/>
                    </a:lnTo>
                    <a:lnTo>
                      <a:pt x="448" y="2549"/>
                    </a:lnTo>
                    <a:lnTo>
                      <a:pt x="447" y="2592"/>
                    </a:lnTo>
                    <a:lnTo>
                      <a:pt x="448" y="2635"/>
                    </a:lnTo>
                    <a:lnTo>
                      <a:pt x="453" y="2673"/>
                    </a:lnTo>
                    <a:lnTo>
                      <a:pt x="460" y="2706"/>
                    </a:lnTo>
                    <a:lnTo>
                      <a:pt x="469" y="2735"/>
                    </a:lnTo>
                    <a:lnTo>
                      <a:pt x="479" y="2761"/>
                    </a:lnTo>
                    <a:lnTo>
                      <a:pt x="491" y="2784"/>
                    </a:lnTo>
                    <a:lnTo>
                      <a:pt x="515" y="2832"/>
                    </a:lnTo>
                    <a:lnTo>
                      <a:pt x="525" y="2855"/>
                    </a:lnTo>
                    <a:lnTo>
                      <a:pt x="535" y="2881"/>
                    </a:lnTo>
                    <a:lnTo>
                      <a:pt x="545" y="2910"/>
                    </a:lnTo>
                    <a:lnTo>
                      <a:pt x="552" y="2943"/>
                    </a:lnTo>
                    <a:lnTo>
                      <a:pt x="556" y="2981"/>
                    </a:lnTo>
                    <a:lnTo>
                      <a:pt x="558" y="3024"/>
                    </a:lnTo>
                    <a:lnTo>
                      <a:pt x="556" y="3067"/>
                    </a:lnTo>
                    <a:lnTo>
                      <a:pt x="552" y="3105"/>
                    </a:lnTo>
                    <a:lnTo>
                      <a:pt x="545" y="3138"/>
                    </a:lnTo>
                    <a:lnTo>
                      <a:pt x="535" y="3167"/>
                    </a:lnTo>
                    <a:lnTo>
                      <a:pt x="525" y="3193"/>
                    </a:lnTo>
                    <a:lnTo>
                      <a:pt x="515" y="3216"/>
                    </a:lnTo>
                    <a:lnTo>
                      <a:pt x="503" y="3240"/>
                    </a:lnTo>
                    <a:lnTo>
                      <a:pt x="491" y="3264"/>
                    </a:lnTo>
                    <a:lnTo>
                      <a:pt x="479" y="3287"/>
                    </a:lnTo>
                    <a:lnTo>
                      <a:pt x="469" y="3313"/>
                    </a:lnTo>
                    <a:lnTo>
                      <a:pt x="460" y="3342"/>
                    </a:lnTo>
                    <a:lnTo>
                      <a:pt x="453" y="3375"/>
                    </a:lnTo>
                    <a:lnTo>
                      <a:pt x="448" y="3413"/>
                    </a:lnTo>
                    <a:lnTo>
                      <a:pt x="447" y="3456"/>
                    </a:lnTo>
                    <a:lnTo>
                      <a:pt x="448" y="3499"/>
                    </a:lnTo>
                    <a:lnTo>
                      <a:pt x="453" y="3537"/>
                    </a:lnTo>
                    <a:lnTo>
                      <a:pt x="460" y="3570"/>
                    </a:lnTo>
                    <a:lnTo>
                      <a:pt x="469" y="3599"/>
                    </a:lnTo>
                    <a:lnTo>
                      <a:pt x="479" y="3625"/>
                    </a:lnTo>
                    <a:lnTo>
                      <a:pt x="491" y="3648"/>
                    </a:lnTo>
                    <a:lnTo>
                      <a:pt x="503" y="3672"/>
                    </a:lnTo>
                    <a:lnTo>
                      <a:pt x="515" y="3696"/>
                    </a:lnTo>
                    <a:lnTo>
                      <a:pt x="525" y="3719"/>
                    </a:lnTo>
                    <a:lnTo>
                      <a:pt x="535" y="3745"/>
                    </a:lnTo>
                    <a:lnTo>
                      <a:pt x="545" y="3774"/>
                    </a:lnTo>
                    <a:lnTo>
                      <a:pt x="552" y="3807"/>
                    </a:lnTo>
                    <a:lnTo>
                      <a:pt x="556" y="3845"/>
                    </a:lnTo>
                    <a:lnTo>
                      <a:pt x="558" y="3888"/>
                    </a:lnTo>
                    <a:lnTo>
                      <a:pt x="556" y="3931"/>
                    </a:lnTo>
                    <a:lnTo>
                      <a:pt x="552" y="3969"/>
                    </a:lnTo>
                    <a:lnTo>
                      <a:pt x="545" y="4002"/>
                    </a:lnTo>
                    <a:lnTo>
                      <a:pt x="535" y="4031"/>
                    </a:lnTo>
                    <a:lnTo>
                      <a:pt x="525" y="4057"/>
                    </a:lnTo>
                    <a:lnTo>
                      <a:pt x="515" y="4080"/>
                    </a:lnTo>
                    <a:lnTo>
                      <a:pt x="503" y="4104"/>
                    </a:lnTo>
                    <a:lnTo>
                      <a:pt x="491" y="4128"/>
                    </a:lnTo>
                    <a:lnTo>
                      <a:pt x="479" y="4151"/>
                    </a:lnTo>
                    <a:lnTo>
                      <a:pt x="469" y="4177"/>
                    </a:lnTo>
                    <a:lnTo>
                      <a:pt x="460" y="4206"/>
                    </a:lnTo>
                    <a:lnTo>
                      <a:pt x="453" y="4239"/>
                    </a:lnTo>
                    <a:lnTo>
                      <a:pt x="448" y="4277"/>
                    </a:lnTo>
                    <a:lnTo>
                      <a:pt x="447" y="4320"/>
                    </a:lnTo>
                    <a:lnTo>
                      <a:pt x="0" y="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14EED43-19C6-3D75-5205-DBAE6551B347}"/>
                  </a:ext>
                </a:extLst>
              </p:cNvPr>
              <p:cNvSpPr/>
              <p:nvPr userDrawn="1"/>
            </p:nvSpPr>
            <p:spPr>
              <a:xfrm>
                <a:off x="196964" y="0"/>
                <a:ext cx="6661036" cy="6858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39820" y="382385"/>
            <a:ext cx="3709358" cy="5742370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76376" y="508959"/>
            <a:ext cx="6305911" cy="561579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0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D9CA508-3C86-3580-504F-B66601B7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8688" cy="6858000"/>
            <a:chOff x="0" y="0"/>
            <a:chExt cx="12198688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727928" y="0"/>
              <a:ext cx="647076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6" title="Left scallop edge">
              <a:extLst>
                <a:ext uri="{FF2B5EF4-FFF2-40B4-BE49-F238E27FC236}">
                  <a16:creationId xmlns:a16="http://schemas.microsoft.com/office/drawing/2014/main" id="{79990210-1F9B-2CE1-E438-60E6728E96E4}"/>
                </a:ext>
              </a:extLst>
            </p:cNvPr>
            <p:cNvSpPr/>
            <p:nvPr userDrawn="1"/>
          </p:nvSpPr>
          <p:spPr bwMode="auto">
            <a:xfrm>
              <a:off x="5399865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4EED43-19C6-3D75-5205-DBAE6551B347}"/>
                </a:ext>
              </a:extLst>
            </p:cNvPr>
            <p:cNvSpPr/>
            <p:nvPr userDrawn="1"/>
          </p:nvSpPr>
          <p:spPr>
            <a:xfrm>
              <a:off x="196964" y="0"/>
              <a:ext cx="5334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34958" y="526210"/>
            <a:ext cx="4464908" cy="5817106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719977" y="526210"/>
            <a:ext cx="4921464" cy="5817106"/>
          </a:xfrm>
        </p:spPr>
        <p:txBody>
          <a:bodyPr anchor="ctr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03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>
            <a:extLst>
              <a:ext uri="{FF2B5EF4-FFF2-40B4-BE49-F238E27FC236}">
                <a16:creationId xmlns:a16="http://schemas.microsoft.com/office/drawing/2014/main" id="{97CCFE93-3875-D188-55BA-86E16415C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1D729-2B26-A81B-0CB0-4E0A1AEA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80477" y="1061049"/>
            <a:ext cx="6358152" cy="3666225"/>
          </a:xfrm>
        </p:spPr>
        <p:txBody>
          <a:bodyPr anchor="ctr">
            <a:normAutofit/>
          </a:bodyPr>
          <a:lstStyle>
            <a:lvl1pPr algn="ctr">
              <a:defRPr sz="4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CE9BDE-37AB-2DA6-B4F2-3E7F0F66AB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58945" y="1690688"/>
            <a:ext cx="3401568" cy="340156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DFA44-C5AA-7A71-CCFD-2B79F5B2F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477" y="4856009"/>
            <a:ext cx="6358153" cy="1778000"/>
          </a:xfrm>
        </p:spPr>
        <p:txBody>
          <a:bodyPr>
            <a:normAutofit/>
          </a:bodyPr>
          <a:lstStyle>
            <a:lvl1pPr marL="0" indent="0" algn="ctr">
              <a:buNone/>
              <a:defRPr sz="2800" b="1" cap="all" spc="4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2pPr>
            <a:lvl3pPr marL="9144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3pPr>
            <a:lvl4pPr marL="13716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4pPr>
            <a:lvl5pPr marL="18288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5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7306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89768" y="416664"/>
            <a:ext cx="7788938" cy="3221482"/>
          </a:xfrm>
        </p:spPr>
        <p:txBody>
          <a:bodyPr anchor="b">
            <a:noAutofit/>
          </a:bodyPr>
          <a:lstStyle>
            <a:lvl1pPr>
              <a:defRPr sz="4000" b="0" cap="none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89768" y="4197347"/>
            <a:ext cx="778893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 b="0" i="0" cap="none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7" name="Group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9D4F4AB8-D880-91F9-0D11-F20D0050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DB69F-EBF7-DEBE-7DFD-A9D36DCE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3A6D7BE-752B-EB58-A926-E58EBEF60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428EF-AEF1-9AF0-0271-91E838A41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A22F609B-DD4D-16EA-060F-7BFB50BA5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CFE02-2621-4755-7C89-6564B8F2F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60DE4597-DCD7-DBB0-3265-E7EB70B26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B0330-0047-93B1-0E5A-30782D065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74" r:id="rId5"/>
    <p:sldLayoutId id="2147483675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Relational Databases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- 12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Relational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relational database is a type of database that stores data in related tables.</a:t>
            </a:r>
          </a:p>
          <a:p>
            <a:r>
              <a:t>• It uses a structured query language (SQL) for data manipulation and retrieval.</a:t>
            </a:r>
          </a:p>
          <a:p>
            <a:r>
              <a:t>• Relational databases organize data into rows and columns, with each row representing a single record and each column representing a field or attribute.</a:t>
            </a:r>
          </a:p>
          <a:p>
            <a:r>
              <a:t>• They enable users to define relationships between different tables based on common fields.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 and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**Data Models**: Conceptual, Logical, Physical models that represent data structure and relationships.</a:t>
            </a:r>
          </a:p>
          <a:p>
            <a:r>
              <a:t>• **Database Schema**: Organized collection of tables with well-defined columns and rows.</a:t>
            </a:r>
          </a:p>
          <a:p>
            <a:r>
              <a:t>• **Normalization**: Process to reduce data redundancy and improve data integrity by dividing large table into smaller ones.</a:t>
            </a:r>
          </a:p>
          <a:p>
            <a:r>
              <a:t>• **Entity-Relationship Diagram (ERD)**: Visual representation showing entities, attributes, and relationships between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a Simple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entities and attributes: Determine relevant information needed for the database.</a:t>
            </a:r>
          </a:p>
          <a:p>
            <a:r>
              <a:t>• Define relationships between entities: Identify how entities interact with each other.</a:t>
            </a:r>
          </a:p>
          <a:p>
            <a:r>
              <a:t>• Choose data types: Select suitable data types (e.g., integer, string) for each attribute.</a:t>
            </a:r>
          </a:p>
          <a:p>
            <a:r>
              <a:t>• Normalize tables: Eliminate redundancy by splitting large tables into smaller 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 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Normalization is a database design technique used to eliminate data redundancy and improve data integrity.</a:t>
            </a:r>
          </a:p>
          <a:p>
            <a:r>
              <a:t>• It involves dividing large tables into smaller ones, related to each other through keys.</a:t>
            </a:r>
          </a:p>
          <a:p>
            <a:r>
              <a:t>• Normalization helps prevent data inconsistency and reduces storage requirements.</a:t>
            </a:r>
          </a:p>
          <a:p>
            <a:r>
              <a:t>• There are various normalization levels (1NF-6NF) that ensure data consistency and independence.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Exploring SQL Commands through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Understanding SQL SELECT statement for querying databases.</a:t>
            </a:r>
          </a:p>
          <a:p>
            <a:r>
              <a:t>• Designing database schema using CREATE TABLE command.</a:t>
            </a:r>
          </a:p>
          <a:p>
            <a:r>
              <a:t>• Writing INSERT, UPDATE, and DELETE commands for data manipulation.</a:t>
            </a:r>
          </a:p>
          <a:p>
            <a:r>
              <a:t>• Practicing queries with sample datasets to enhance problem-solving skills.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Keys: Primary and Foreign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Primary Key: Unique identifier for each record in a table, ensuring data integrity.</a:t>
            </a:r>
          </a:p>
          <a:p>
            <a:r>
              <a:t>• Foreign Key: References a primary key in another table, establishing relationships between tables.</a:t>
            </a:r>
          </a:p>
          <a:p/>
          <a:p>
            <a:r>
              <a:t>Note: For students with visual impairments, consider providing tactile graphics or audio descriptions of the concepts.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Incorporating Views and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Views: Virtual table created using query, no physical storage space required.</a:t>
            </a:r>
          </a:p>
          <a:p>
            <a:r>
              <a:t>• Materialized views: Physical storage space allocated for frequently used views, improves performance.</a:t>
            </a:r>
          </a:p>
          <a:p>
            <a:r>
              <a:t>• Indexes: Data structures created on columns of a table for efficient data retrieval.</a:t>
            </a:r>
          </a:p>
          <a:p>
            <a:r>
              <a:t>• Clustered indexes: Primary key column indexed, improves insertion and deletion efficiency.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Activity: Creating Tables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Define SQL syntax for creating tables: Students will learn how to use keywords such as CREATE TABLE, column names, data types, and constraints.</a:t>
            </a:r>
          </a:p>
          <a:p>
            <a:r>
              <a:t>• Understand table structure: Students will learn about different components of a table, including rows, columns, primary keys, and foreign keys.</a:t>
            </a:r>
          </a:p>
          <a:p>
            <a:r>
              <a:t>• Create tables with different data types: Students will practice creating tables with various data types, including integer, string, date, and boolean.</a:t>
            </a:r>
          </a:p>
          <a:p>
            <a:r>
              <a:t>• Apply accessibility best practices in database design: Students will learn how to create tables that are accessible for users with disabilities, such as using descriptive column names and labels.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Ensuring Data Integrity with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constraint is a rule that ensures data consistency and accuracy within a relational database.</a:t>
            </a:r>
          </a:p>
          <a:p>
            <a:r>
              <a:t>• Types of constraints: Not Null (ensures no null values), Unique (enforces uniqueness of data), Primary Key (identifies unique rows), Foreign Key (links related tables).</a:t>
            </a:r>
          </a:p>
          <a:p>
            <a:r>
              <a:t>• Constraints can be classified as: Entity-level constraints, table-level constraints, and referential integrity constraints.</a:t>
            </a:r>
          </a:p>
          <a:p>
            <a:r>
              <a:t>• Benefits of using constraints include improved data accuracy, reduced data redundancy, and simplified database maintenance.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Databases in 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 large datasets for various applications, including online banking systems that cater to users of all abilities.</a:t>
            </a:r>
          </a:p>
          <a:p>
            <a:r>
              <a:t>• Enable efficient data retrieval and manipulation through Structured Query Language (SQL), which is used by students with visual impairments using screen readers.</a:t>
            </a:r>
          </a:p>
          <a:p>
            <a:r>
              <a:t>• Support decision-making processes in industries like healthcare, where databases provide accurate patient information, benefiting people with disabilities who require frequent medical care.</a:t>
            </a:r>
          </a:p>
          <a:p>
            <a:r>
              <a:t>• Facilitate e-commerce websites, allowing individuals with cognitive disabilities to purchase products online and track orders.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Custom 91">
      <a:majorFont>
        <a:latin typeface="Bodoni MT"/>
        <a:ea typeface=""/>
        <a:cs typeface=""/>
      </a:majorFont>
      <a:minorFont>
        <a:latin typeface="Times New Roman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5916208_Getting to know your teacher_win32_SL_V2" id="{117468CD-FD74-421B-80C2-54C2E280903C}" vid="{F6B88795-ACAF-4739-9DA3-36C970FAD2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5E3014-9C46-494C-AF13-AC5040852AE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4E3E8A-D7DE-4632-A6FA-1031EE32A3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86D29A-1D88-4D18-B841-9AD5C53CCB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Bodoni MT</vt:lpstr>
      <vt:lpstr>Calibri</vt:lpstr>
      <vt:lpstr>Gill Sans MT</vt:lpstr>
      <vt:lpstr>Times New Roman</vt:lpstr>
      <vt:lpstr>Badge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your teacher</dc:title>
  <cp:lastModifiedBy>prashant choudhary</cp:lastModifiedBy>
  <cp:revision>4</cp:revision>
  <dcterms:created xsi:type="dcterms:W3CDTF">2023-12-06T07:13:22Z</dcterms:created>
  <dcterms:modified xsi:type="dcterms:W3CDTF">2024-12-07T10:49:45Z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