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 autoAdjust="0"/>
  </p:normalViewPr>
  <p:slideViewPr>
    <p:cSldViewPr snapToGrid="0">
      <p:cViewPr varScale="1">
        <p:scale>
          <a:sx n="120" d="100"/>
          <a:sy n="120" d="100"/>
        </p:scale>
        <p:origin x="840" y="184"/>
      </p:cViewPr>
      <p:guideLst/>
    </p:cSldViewPr>
  </p:slideViewPr>
  <p:outlineViewPr>
    <p:cViewPr>
      <p:scale>
        <a:sx n="33" d="100"/>
        <a:sy n="33" d="100"/>
      </p:scale>
      <p:origin x="0" y="-1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C3D2F-5A05-4596-A225-FC14565701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C051B-F26C-4470-B56C-092B4E1C4C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E9A1B5-1BE4-4CD6-80C4-143959F034D3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59DB8B-3A1C-4291-8A97-C19C5D31C3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310B9-42FE-4FE9-8C0B-5C7382DBB0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CFFF0-B784-4FE7-8A38-F89DE294F83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669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6120A-21AF-4F12-ABAA-66A70823631B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C672F-171E-46DC-915C-C7BCF99F5C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4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78523" y="5953318"/>
            <a:ext cx="10318418" cy="74227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 b="0" i="0" cap="all" spc="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3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0524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79454E9-64A4-5BCD-DBB2-0A8C47461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77EF47-0E28-324A-BFDB-6DA237E7E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7" y="382385"/>
            <a:ext cx="10523379" cy="740737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7" y="1262271"/>
            <a:ext cx="10523379" cy="461732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61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86875113-6CF9-DCB5-3194-7B5DC7DB7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A9FEF-52A0-808F-183C-E69D0BD7D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1678" y="655604"/>
            <a:ext cx="4028348" cy="5387886"/>
          </a:xfrm>
        </p:spPr>
        <p:txBody>
          <a:bodyPr anchor="ctr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026" y="655604"/>
            <a:ext cx="5986078" cy="5387886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11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2629D6-C81C-6C07-314D-B2D901A71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530964" y="0"/>
              <a:ext cx="6661036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CD54FFD-5890-0058-F8A8-53847637E554}"/>
                </a:ext>
              </a:extLst>
            </p:cNvPr>
            <p:cNvGrpSpPr/>
            <p:nvPr userDrawn="1"/>
          </p:nvGrpSpPr>
          <p:grpSpPr>
            <a:xfrm>
              <a:off x="196964" y="0"/>
              <a:ext cx="7377024" cy="6858000"/>
              <a:chOff x="196964" y="0"/>
              <a:chExt cx="7377024" cy="6858000"/>
            </a:xfrm>
          </p:grpSpPr>
          <p:sp>
            <p:nvSpPr>
              <p:cNvPr id="10" name="Freeform 6" title="Left scallop edge">
                <a:extLst>
                  <a:ext uri="{FF2B5EF4-FFF2-40B4-BE49-F238E27FC236}">
                    <a16:creationId xmlns:a16="http://schemas.microsoft.com/office/drawing/2014/main" id="{79990210-1F9B-2CE1-E438-60E6728E96E4}"/>
                  </a:ext>
                </a:extLst>
              </p:cNvPr>
              <p:cNvSpPr/>
              <p:nvPr userDrawn="1"/>
            </p:nvSpPr>
            <p:spPr bwMode="auto">
              <a:xfrm>
                <a:off x="6688163" y="0"/>
                <a:ext cx="885825" cy="6858000"/>
              </a:xfrm>
              <a:custGeom>
                <a:avLst/>
                <a:gdLst/>
                <a:ahLst/>
                <a:cxnLst/>
                <a:rect l="0" t="0" r="r" b="b"/>
                <a:pathLst>
                  <a:path w="558" h="4320">
                    <a:moveTo>
                      <a:pt x="0" y="0"/>
                    </a:moveTo>
                    <a:lnTo>
                      <a:pt x="447" y="0"/>
                    </a:lnTo>
                    <a:lnTo>
                      <a:pt x="448" y="43"/>
                    </a:lnTo>
                    <a:lnTo>
                      <a:pt x="453" y="81"/>
                    </a:lnTo>
                    <a:lnTo>
                      <a:pt x="460" y="114"/>
                    </a:lnTo>
                    <a:lnTo>
                      <a:pt x="469" y="143"/>
                    </a:lnTo>
                    <a:lnTo>
                      <a:pt x="479" y="169"/>
                    </a:lnTo>
                    <a:lnTo>
                      <a:pt x="491" y="192"/>
                    </a:lnTo>
                    <a:lnTo>
                      <a:pt x="503" y="216"/>
                    </a:lnTo>
                    <a:lnTo>
                      <a:pt x="515" y="240"/>
                    </a:lnTo>
                    <a:lnTo>
                      <a:pt x="525" y="263"/>
                    </a:lnTo>
                    <a:lnTo>
                      <a:pt x="535" y="289"/>
                    </a:lnTo>
                    <a:lnTo>
                      <a:pt x="545" y="318"/>
                    </a:lnTo>
                    <a:lnTo>
                      <a:pt x="552" y="351"/>
                    </a:lnTo>
                    <a:lnTo>
                      <a:pt x="556" y="389"/>
                    </a:lnTo>
                    <a:lnTo>
                      <a:pt x="558" y="432"/>
                    </a:lnTo>
                    <a:lnTo>
                      <a:pt x="556" y="475"/>
                    </a:lnTo>
                    <a:lnTo>
                      <a:pt x="552" y="513"/>
                    </a:lnTo>
                    <a:lnTo>
                      <a:pt x="545" y="546"/>
                    </a:lnTo>
                    <a:lnTo>
                      <a:pt x="535" y="575"/>
                    </a:lnTo>
                    <a:lnTo>
                      <a:pt x="525" y="601"/>
                    </a:lnTo>
                    <a:lnTo>
                      <a:pt x="515" y="624"/>
                    </a:lnTo>
                    <a:lnTo>
                      <a:pt x="503" y="648"/>
                    </a:lnTo>
                    <a:lnTo>
                      <a:pt x="491" y="672"/>
                    </a:lnTo>
                    <a:lnTo>
                      <a:pt x="479" y="695"/>
                    </a:lnTo>
                    <a:lnTo>
                      <a:pt x="469" y="721"/>
                    </a:lnTo>
                    <a:lnTo>
                      <a:pt x="460" y="750"/>
                    </a:lnTo>
                    <a:lnTo>
                      <a:pt x="453" y="783"/>
                    </a:lnTo>
                    <a:lnTo>
                      <a:pt x="448" y="821"/>
                    </a:lnTo>
                    <a:lnTo>
                      <a:pt x="447" y="864"/>
                    </a:lnTo>
                    <a:lnTo>
                      <a:pt x="448" y="907"/>
                    </a:lnTo>
                    <a:lnTo>
                      <a:pt x="453" y="945"/>
                    </a:lnTo>
                    <a:lnTo>
                      <a:pt x="460" y="978"/>
                    </a:lnTo>
                    <a:lnTo>
                      <a:pt x="469" y="1007"/>
                    </a:lnTo>
                    <a:lnTo>
                      <a:pt x="479" y="1033"/>
                    </a:lnTo>
                    <a:lnTo>
                      <a:pt x="491" y="1056"/>
                    </a:lnTo>
                    <a:lnTo>
                      <a:pt x="503" y="1080"/>
                    </a:lnTo>
                    <a:lnTo>
                      <a:pt x="515" y="1104"/>
                    </a:lnTo>
                    <a:lnTo>
                      <a:pt x="525" y="1127"/>
                    </a:lnTo>
                    <a:lnTo>
                      <a:pt x="535" y="1153"/>
                    </a:lnTo>
                    <a:lnTo>
                      <a:pt x="545" y="1182"/>
                    </a:lnTo>
                    <a:lnTo>
                      <a:pt x="552" y="1215"/>
                    </a:lnTo>
                    <a:lnTo>
                      <a:pt x="556" y="1253"/>
                    </a:lnTo>
                    <a:lnTo>
                      <a:pt x="558" y="1296"/>
                    </a:lnTo>
                    <a:lnTo>
                      <a:pt x="556" y="1339"/>
                    </a:lnTo>
                    <a:lnTo>
                      <a:pt x="552" y="1377"/>
                    </a:lnTo>
                    <a:lnTo>
                      <a:pt x="545" y="1410"/>
                    </a:lnTo>
                    <a:lnTo>
                      <a:pt x="535" y="1439"/>
                    </a:lnTo>
                    <a:lnTo>
                      <a:pt x="525" y="1465"/>
                    </a:lnTo>
                    <a:lnTo>
                      <a:pt x="515" y="1488"/>
                    </a:lnTo>
                    <a:lnTo>
                      <a:pt x="503" y="1512"/>
                    </a:lnTo>
                    <a:lnTo>
                      <a:pt x="491" y="1536"/>
                    </a:lnTo>
                    <a:lnTo>
                      <a:pt x="479" y="1559"/>
                    </a:lnTo>
                    <a:lnTo>
                      <a:pt x="469" y="1585"/>
                    </a:lnTo>
                    <a:lnTo>
                      <a:pt x="460" y="1614"/>
                    </a:lnTo>
                    <a:lnTo>
                      <a:pt x="453" y="1647"/>
                    </a:lnTo>
                    <a:lnTo>
                      <a:pt x="448" y="1685"/>
                    </a:lnTo>
                    <a:lnTo>
                      <a:pt x="447" y="1728"/>
                    </a:lnTo>
                    <a:lnTo>
                      <a:pt x="448" y="1771"/>
                    </a:lnTo>
                    <a:lnTo>
                      <a:pt x="453" y="1809"/>
                    </a:lnTo>
                    <a:lnTo>
                      <a:pt x="460" y="1842"/>
                    </a:lnTo>
                    <a:lnTo>
                      <a:pt x="469" y="1871"/>
                    </a:lnTo>
                    <a:lnTo>
                      <a:pt x="479" y="1897"/>
                    </a:lnTo>
                    <a:lnTo>
                      <a:pt x="491" y="1920"/>
                    </a:lnTo>
                    <a:lnTo>
                      <a:pt x="503" y="1944"/>
                    </a:lnTo>
                    <a:lnTo>
                      <a:pt x="515" y="1968"/>
                    </a:lnTo>
                    <a:lnTo>
                      <a:pt x="525" y="1991"/>
                    </a:lnTo>
                    <a:lnTo>
                      <a:pt x="535" y="2017"/>
                    </a:lnTo>
                    <a:lnTo>
                      <a:pt x="545" y="2046"/>
                    </a:lnTo>
                    <a:lnTo>
                      <a:pt x="552" y="2079"/>
                    </a:lnTo>
                    <a:lnTo>
                      <a:pt x="556" y="2117"/>
                    </a:lnTo>
                    <a:lnTo>
                      <a:pt x="558" y="2159"/>
                    </a:lnTo>
                    <a:lnTo>
                      <a:pt x="556" y="2203"/>
                    </a:lnTo>
                    <a:lnTo>
                      <a:pt x="552" y="2241"/>
                    </a:lnTo>
                    <a:lnTo>
                      <a:pt x="545" y="2274"/>
                    </a:lnTo>
                    <a:lnTo>
                      <a:pt x="535" y="2303"/>
                    </a:lnTo>
                    <a:lnTo>
                      <a:pt x="525" y="2329"/>
                    </a:lnTo>
                    <a:lnTo>
                      <a:pt x="515" y="2352"/>
                    </a:lnTo>
                    <a:lnTo>
                      <a:pt x="503" y="2376"/>
                    </a:lnTo>
                    <a:lnTo>
                      <a:pt x="491" y="2400"/>
                    </a:lnTo>
                    <a:lnTo>
                      <a:pt x="479" y="2423"/>
                    </a:lnTo>
                    <a:lnTo>
                      <a:pt x="469" y="2449"/>
                    </a:lnTo>
                    <a:lnTo>
                      <a:pt x="460" y="2478"/>
                    </a:lnTo>
                    <a:lnTo>
                      <a:pt x="453" y="2511"/>
                    </a:lnTo>
                    <a:lnTo>
                      <a:pt x="448" y="2549"/>
                    </a:lnTo>
                    <a:lnTo>
                      <a:pt x="447" y="2592"/>
                    </a:lnTo>
                    <a:lnTo>
                      <a:pt x="448" y="2635"/>
                    </a:lnTo>
                    <a:lnTo>
                      <a:pt x="453" y="2673"/>
                    </a:lnTo>
                    <a:lnTo>
                      <a:pt x="460" y="2706"/>
                    </a:lnTo>
                    <a:lnTo>
                      <a:pt x="469" y="2735"/>
                    </a:lnTo>
                    <a:lnTo>
                      <a:pt x="479" y="2761"/>
                    </a:lnTo>
                    <a:lnTo>
                      <a:pt x="491" y="2784"/>
                    </a:lnTo>
                    <a:lnTo>
                      <a:pt x="515" y="2832"/>
                    </a:lnTo>
                    <a:lnTo>
                      <a:pt x="525" y="2855"/>
                    </a:lnTo>
                    <a:lnTo>
                      <a:pt x="535" y="2881"/>
                    </a:lnTo>
                    <a:lnTo>
                      <a:pt x="545" y="2910"/>
                    </a:lnTo>
                    <a:lnTo>
                      <a:pt x="552" y="2943"/>
                    </a:lnTo>
                    <a:lnTo>
                      <a:pt x="556" y="2981"/>
                    </a:lnTo>
                    <a:lnTo>
                      <a:pt x="558" y="3024"/>
                    </a:lnTo>
                    <a:lnTo>
                      <a:pt x="556" y="3067"/>
                    </a:lnTo>
                    <a:lnTo>
                      <a:pt x="552" y="3105"/>
                    </a:lnTo>
                    <a:lnTo>
                      <a:pt x="545" y="3138"/>
                    </a:lnTo>
                    <a:lnTo>
                      <a:pt x="535" y="3167"/>
                    </a:lnTo>
                    <a:lnTo>
                      <a:pt x="525" y="3193"/>
                    </a:lnTo>
                    <a:lnTo>
                      <a:pt x="515" y="3216"/>
                    </a:lnTo>
                    <a:lnTo>
                      <a:pt x="503" y="3240"/>
                    </a:lnTo>
                    <a:lnTo>
                      <a:pt x="491" y="3264"/>
                    </a:lnTo>
                    <a:lnTo>
                      <a:pt x="479" y="3287"/>
                    </a:lnTo>
                    <a:lnTo>
                      <a:pt x="469" y="3313"/>
                    </a:lnTo>
                    <a:lnTo>
                      <a:pt x="460" y="3342"/>
                    </a:lnTo>
                    <a:lnTo>
                      <a:pt x="453" y="3375"/>
                    </a:lnTo>
                    <a:lnTo>
                      <a:pt x="448" y="3413"/>
                    </a:lnTo>
                    <a:lnTo>
                      <a:pt x="447" y="3456"/>
                    </a:lnTo>
                    <a:lnTo>
                      <a:pt x="448" y="3499"/>
                    </a:lnTo>
                    <a:lnTo>
                      <a:pt x="453" y="3537"/>
                    </a:lnTo>
                    <a:lnTo>
                      <a:pt x="460" y="3570"/>
                    </a:lnTo>
                    <a:lnTo>
                      <a:pt x="469" y="3599"/>
                    </a:lnTo>
                    <a:lnTo>
                      <a:pt x="479" y="3625"/>
                    </a:lnTo>
                    <a:lnTo>
                      <a:pt x="491" y="3648"/>
                    </a:lnTo>
                    <a:lnTo>
                      <a:pt x="503" y="3672"/>
                    </a:lnTo>
                    <a:lnTo>
                      <a:pt x="515" y="3696"/>
                    </a:lnTo>
                    <a:lnTo>
                      <a:pt x="525" y="3719"/>
                    </a:lnTo>
                    <a:lnTo>
                      <a:pt x="535" y="3745"/>
                    </a:lnTo>
                    <a:lnTo>
                      <a:pt x="545" y="3774"/>
                    </a:lnTo>
                    <a:lnTo>
                      <a:pt x="552" y="3807"/>
                    </a:lnTo>
                    <a:lnTo>
                      <a:pt x="556" y="3845"/>
                    </a:lnTo>
                    <a:lnTo>
                      <a:pt x="558" y="3888"/>
                    </a:lnTo>
                    <a:lnTo>
                      <a:pt x="556" y="3931"/>
                    </a:lnTo>
                    <a:lnTo>
                      <a:pt x="552" y="3969"/>
                    </a:lnTo>
                    <a:lnTo>
                      <a:pt x="545" y="4002"/>
                    </a:lnTo>
                    <a:lnTo>
                      <a:pt x="535" y="4031"/>
                    </a:lnTo>
                    <a:lnTo>
                      <a:pt x="525" y="4057"/>
                    </a:lnTo>
                    <a:lnTo>
                      <a:pt x="515" y="4080"/>
                    </a:lnTo>
                    <a:lnTo>
                      <a:pt x="503" y="4104"/>
                    </a:lnTo>
                    <a:lnTo>
                      <a:pt x="491" y="4128"/>
                    </a:lnTo>
                    <a:lnTo>
                      <a:pt x="479" y="4151"/>
                    </a:lnTo>
                    <a:lnTo>
                      <a:pt x="469" y="4177"/>
                    </a:lnTo>
                    <a:lnTo>
                      <a:pt x="460" y="4206"/>
                    </a:lnTo>
                    <a:lnTo>
                      <a:pt x="453" y="4239"/>
                    </a:lnTo>
                    <a:lnTo>
                      <a:pt x="448" y="4277"/>
                    </a:lnTo>
                    <a:lnTo>
                      <a:pt x="447" y="4320"/>
                    </a:lnTo>
                    <a:lnTo>
                      <a:pt x="0" y="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14EED43-19C6-3D75-5205-DBAE6551B347}"/>
                  </a:ext>
                </a:extLst>
              </p:cNvPr>
              <p:cNvSpPr/>
              <p:nvPr userDrawn="1"/>
            </p:nvSpPr>
            <p:spPr>
              <a:xfrm>
                <a:off x="196964" y="0"/>
                <a:ext cx="6661036" cy="68580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039820" y="382385"/>
            <a:ext cx="3709358" cy="5742370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76376" y="508959"/>
            <a:ext cx="6305911" cy="561579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30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6D9CA508-3C86-3580-504F-B66601B72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8688" cy="6858000"/>
            <a:chOff x="0" y="0"/>
            <a:chExt cx="12198688" cy="6858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7006ED6-1912-6865-5D19-6FCA22094F1E}"/>
                </a:ext>
              </a:extLst>
            </p:cNvPr>
            <p:cNvSpPr/>
            <p:nvPr userDrawn="1"/>
          </p:nvSpPr>
          <p:spPr>
            <a:xfrm>
              <a:off x="5727928" y="0"/>
              <a:ext cx="647076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6" title="Left scallop edge">
              <a:extLst>
                <a:ext uri="{FF2B5EF4-FFF2-40B4-BE49-F238E27FC236}">
                  <a16:creationId xmlns:a16="http://schemas.microsoft.com/office/drawing/2014/main" id="{79990210-1F9B-2CE1-E438-60E6728E96E4}"/>
                </a:ext>
              </a:extLst>
            </p:cNvPr>
            <p:cNvSpPr/>
            <p:nvPr userDrawn="1"/>
          </p:nvSpPr>
          <p:spPr bwMode="auto">
            <a:xfrm>
              <a:off x="5399865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4EED43-19C6-3D75-5205-DBAE6551B347}"/>
                </a:ext>
              </a:extLst>
            </p:cNvPr>
            <p:cNvSpPr/>
            <p:nvPr userDrawn="1"/>
          </p:nvSpPr>
          <p:spPr>
            <a:xfrm>
              <a:off x="196964" y="0"/>
              <a:ext cx="53340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 title="right edge border">
              <a:extLst>
                <a:ext uri="{FF2B5EF4-FFF2-40B4-BE49-F238E27FC236}">
                  <a16:creationId xmlns:a16="http://schemas.microsoft.com/office/drawing/2014/main" id="{774323D2-93FE-5FD5-676F-452C98106A6E}"/>
                </a:ext>
              </a:extLst>
            </p:cNvPr>
            <p:cNvSpPr/>
            <p:nvPr userDrawn="1"/>
          </p:nvSpPr>
          <p:spPr>
            <a:xfrm>
              <a:off x="0" y="0"/>
              <a:ext cx="283464" cy="6858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934958" y="526210"/>
            <a:ext cx="4464908" cy="5817106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 hasCustomPrompt="1"/>
          </p:nvPr>
        </p:nvSpPr>
        <p:spPr>
          <a:xfrm>
            <a:off x="6719977" y="526210"/>
            <a:ext cx="4921464" cy="5817106"/>
          </a:xfrm>
        </p:spPr>
        <p:txBody>
          <a:bodyPr anchor="ctr"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403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6">
            <a:extLst>
              <a:ext uri="{FF2B5EF4-FFF2-40B4-BE49-F238E27FC236}">
                <a16:creationId xmlns:a16="http://schemas.microsoft.com/office/drawing/2014/main" id="{97CCFE93-3875-D188-55BA-86E16415C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71D729-2B26-A81B-0CB0-4E0A1AEA1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477" y="1061049"/>
            <a:ext cx="6358152" cy="3666225"/>
          </a:xfrm>
        </p:spPr>
        <p:txBody>
          <a:bodyPr anchor="ctr">
            <a:normAutofit/>
          </a:bodyPr>
          <a:lstStyle>
            <a:lvl1pPr algn="ctr">
              <a:defRPr sz="4000" spc="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ACE9BDE-37AB-2DA6-B4F2-3E7F0F66AB6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58945" y="1690688"/>
            <a:ext cx="3401568" cy="3401568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C2DFA44-C5AA-7A71-CCFD-2B79F5B2F9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80477" y="4856009"/>
            <a:ext cx="6358153" cy="1778000"/>
          </a:xfrm>
        </p:spPr>
        <p:txBody>
          <a:bodyPr>
            <a:normAutofit/>
          </a:bodyPr>
          <a:lstStyle>
            <a:lvl1pPr marL="0" indent="0" algn="ctr">
              <a:buNone/>
              <a:defRPr sz="2800" b="1" cap="all" spc="400" baseline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2pPr>
            <a:lvl3pPr marL="9144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3pPr>
            <a:lvl4pPr marL="13716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4pPr>
            <a:lvl5pPr marL="1828800" indent="0">
              <a:buNone/>
              <a:defRPr cap="all" baseline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5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7306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89768" y="416664"/>
            <a:ext cx="7788938" cy="3221482"/>
          </a:xfrm>
        </p:spPr>
        <p:txBody>
          <a:bodyPr anchor="b">
            <a:noAutofit/>
          </a:bodyPr>
          <a:lstStyle>
            <a:lvl1pPr>
              <a:defRPr sz="4000" b="0" cap="none" spc="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89768" y="4197347"/>
            <a:ext cx="778893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4000" b="0" i="0" cap="none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7" name="Group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513194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9D4F4AB8-D880-91F9-0D11-F20D0050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DB69F-EBF7-DEBE-7DFD-A9D36DCED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257300" y="2286000"/>
            <a:ext cx="4800600" cy="3619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274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63A6D7BE-752B-EB58-A926-E58EBEF60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0428EF-AEF1-9AF0-0271-91E838A41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dirty="0"/>
              <a:t>Click to add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3235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22F609B-DD4D-16EA-060F-7BFB50BA5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6CFE02-2621-4755-7C89-6564B8F2F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3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6">
            <a:extLst>
              <a:ext uri="{FF2B5EF4-FFF2-40B4-BE49-F238E27FC236}">
                <a16:creationId xmlns:a16="http://schemas.microsoft.com/office/drawing/2014/main" id="{60DE4597-DCD7-DBB0-3265-E7EB70B26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B0330-0047-93B1-0E5A-30782D065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51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F63B152-7103-4FFE-90AC-D94EB7F44A7E}" type="datetimeFigureOut">
              <a:rPr lang="en-US" smtClean="0"/>
              <a:t>12/7/24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9DD5A9-4EF1-497E-92EF-2D23CF305E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072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74" r:id="rId5"/>
    <p:sldLayoutId id="2147483675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Geometrical Ideas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Maths - 6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Geometry is a branch of maths that deals with shapes, sizes, and positions.</a:t>
            </a:r>
          </a:p>
          <a:p>
            <a:r>
              <a:t>• It helps us understand how objects are related in space.</a:t>
            </a:r>
          </a:p>
          <a:p>
            <a:r>
              <a:t>• Points, lines, angles, and shapes are basic components of geometry.</a:t>
            </a:r>
          </a:p>
          <a:p>
            <a:r>
              <a:t>• We can create 2D shapes (like squares, circles) and 3D shapes (like cubes, spheres).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Points and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point is a small location on a line or plane.</a:t>
            </a:r>
          </a:p>
          <a:p>
            <a:r>
              <a:t>• It has no size or dimension, only a position.</a:t>
            </a:r>
          </a:p>
          <a:p>
            <a:r>
              <a:t>• Points are usually represented by capital letters (A, B, C etc).</a:t>
            </a:r>
          </a:p>
          <a:p>
            <a:r>
              <a:t>• Points can be located anywhere in space using coordinates (x, 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Angles with Hands-On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 angles using everyday objects (e.g., hands, pencils, blocks) for inclusive learning.</a:t>
            </a:r>
          </a:p>
          <a:p>
            <a:r>
              <a:t>• Use real-life examples (e.g., doorways, windows, corners) to explain acute, obtuse, and right angles.</a:t>
            </a:r>
          </a:p>
          <a:p>
            <a:r>
              <a:t>• Explore angle types (acute, obtuse, straight, reflex) through hands-on activities with different materials (e.g., paper, protractors).</a:t>
            </a:r>
          </a:p>
          <a:p>
            <a:r>
              <a:t>• Involves students in measuring and comparing angles using tools like rulers, measuring cups, or visual aids for diverse learning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Lines: Parallel, Intersecting, and Perpendicular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Here are the concise points for the slide:</a:t>
            </a:r>
          </a:p>
          <a:p/>
          <a:p>
            <a:r>
              <a:t>• **Parallel Lines**: Two lines that never meet, always the same distance apart.</a:t>
            </a:r>
          </a:p>
          <a:p>
            <a:r>
              <a:t>• **Intersecting Lines**: Two lines that cross each other at a single point, meeting but not merging.</a:t>
            </a:r>
          </a:p>
          <a:p>
            <a:r>
              <a:t>• **Perpendicular Lines**: Lines that form a 90-degree angle (L-shape) when they intersect.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Discovering Polygons in Everyday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polygon is a closed figure with many sides and angles.</a:t>
            </a:r>
          </a:p>
          <a:p>
            <a:r>
              <a:t>• We can find polygons in everyday objects like stop signs, coins, computer keyboards, and mirrors.</a:t>
            </a:r>
          </a:p>
          <a:p>
            <a:r>
              <a:t>• Objects can be classified as regular or irregular polygons based on their shape and size.</a:t>
            </a:r>
          </a:p>
          <a:p>
            <a:r>
              <a:t>• Students with visual impairments can explore shapes through tactile diagrams or 3D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Applications of Geometrical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circle is seen in wheels of cars and cycles used by people with disabilities.</a:t>
            </a:r>
          </a:p>
          <a:p>
            <a:r>
              <a:t>• Regular shapes are found in sign language symbols used by deaf students.</a:t>
            </a:r>
          </a:p>
          <a:p>
            <a:r>
              <a:t>• Geometrical shapes help in designing ramps for easy access to buildings for people with mobility issues.</a:t>
            </a:r>
          </a:p>
          <a:p>
            <a:r>
              <a:t>• Architects use geometry to design houses and buildings that provide equal opportunities to everyone.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Activity: Creating 3D Shapes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with visual impairments can identify shapes by touching or feeling 3D models.</a:t>
            </a:r>
          </a:p>
          <a:p>
            <a:r>
              <a:t>• Create 3D shapes using various materials like clay, paper, cardboard, or wood.</a:t>
            </a:r>
          </a:p>
          <a:p>
            <a:r>
              <a:t>• Encourage students to observe and record similarities and differences between 2D and 3D shapes.</a:t>
            </a:r>
          </a:p>
          <a:p>
            <a:r>
              <a:t>• Label and use descriptive words for shapes (e.g., "sphere", "cylinder") to promote vocabulary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Identifying Geometrical Patterns in 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Leaves on stems grow in a spiral pattern, often forming a Fibonacci sequence.</a:t>
            </a:r>
          </a:p>
          <a:p>
            <a:r>
              <a:t>• Branches of trees split into smaller branches at regular intervals, showing symmetry.</a:t>
            </a:r>
          </a:p>
          <a:p>
            <a:r>
              <a:t>• Snowflakes have six-fold radial symmetry and unique geometric patterns.</a:t>
            </a:r>
          </a:p>
          <a:p>
            <a:r>
              <a:t>• Seeds in a sunflower arrange themselves in a spiral pattern around the center.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Inclusive Classroom Discussion on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clear expectations for respectful discussions.</a:t>
            </a:r>
          </a:p>
          <a:p>
            <a:r>
              <a:t>• Encourage diverse participation through think-pair-share activities.</a:t>
            </a:r>
          </a:p>
          <a:p>
            <a:r>
              <a:t>• Use visual aids like diagrams, graphs, and models to facilitate understanding.</a:t>
            </a:r>
          </a:p>
          <a:p>
            <a:r>
              <a:t>• Incorporate varied examples to accommodate different learning styles and abilities.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and Fun Quiz on Basic Geometrical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Points are what we see on a line or curve, they have no size.</a:t>
            </a:r>
          </a:p>
          <a:p>
            <a:r>
              <a:t>• Lines can be straight or curved but never intersect, infinite in length.</a:t>
            </a:r>
          </a:p>
          <a:p>
            <a:r>
              <a:t>• Angles have degrees (0-360°) and shapes have properties like sides, vertices, and angles.</a:t>
            </a:r>
          </a:p>
          <a:p>
            <a:r>
              <a:t>• Shapes can be classified as regular (symmetrical) or irregular.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Custom 91">
      <a:majorFont>
        <a:latin typeface="Bodoni MT"/>
        <a:ea typeface=""/>
        <a:cs typeface=""/>
      </a:majorFont>
      <a:minorFont>
        <a:latin typeface="Times New Roman"/>
        <a:ea typeface=""/>
        <a:cs typeface="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5916208_Getting to know your teacher_win32_SL_V2" id="{117468CD-FD74-421B-80C2-54C2E280903C}" vid="{F6B88795-ACAF-4739-9DA3-36C970FAD2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5E3014-9C46-494C-AF13-AC5040852AE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4E3E8A-D7DE-4632-A6FA-1031EE32A3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86D29A-1D88-4D18-B841-9AD5C53CCB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Arial</vt:lpstr>
      <vt:lpstr>Bodoni MT</vt:lpstr>
      <vt:lpstr>Calibri</vt:lpstr>
      <vt:lpstr>Gill Sans MT</vt:lpstr>
      <vt:lpstr>Times New Roman</vt:lpstr>
      <vt:lpstr>Badge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your teacher</dc:title>
  <cp:lastModifiedBy>prashant choudhary</cp:lastModifiedBy>
  <cp:revision>4</cp:revision>
  <dcterms:created xsi:type="dcterms:W3CDTF">2023-12-06T07:13:22Z</dcterms:created>
  <dcterms:modified xsi:type="dcterms:W3CDTF">2024-12-07T10:49:45Z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